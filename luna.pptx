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56048" y="100584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8E9BC4"/>
              </a:gs>
            </a:gsLst>
            <a:path path="circle">
              <a:fillToRect l="30000" t="30000" r="70000" b="70000"/>
            </a:path>
          </a:gradFill>
          <a:ln w="9525">
            <a:solidFill>
              <a:srgbClr val="6F80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0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ЛУНА</a:t>
            </a:r>
          </a:p>
          <a:p>
            <a:pPr algn="ctr">
              <a:lnSpc>
                <a:spcPct val="110000"/>
              </a:lnSpc>
              <a:spcAft>
                <a:spcPts val="1000"/>
              </a:spcAft>
            </a:pPr>
            <a:r>
              <a:rPr sz="2400" b="0">
                <a:solidFill>
                  <a:srgbClr val="C9D8FF"/>
                </a:solidFill>
                <a:latin typeface="Calibri"/>
              </a:rPr>
              <a:t>Единственный естественный спутник Земли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Что такое Луна?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Луна — единственный естественный спутник Земли и пятый по величине спутник в Солнечной системе.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Это ближайшее к нам космическое тело и единственное, на котором побывал человек.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Луна влияет на жизнь Земли: вызывает приливы и отливы, стабилизирует наклон земной оси.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Она всегда повёрнута к Земле одной стороной — это называется приливным захватом.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Ключевые факты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3271418" cy="1554480"/>
          </a:xfrm>
          <a:prstGeom prst="roundRect">
            <a:avLst/>
          </a:prstGeom>
          <a:solidFill>
            <a:srgbClr val="182044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3 474 км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AA6C7"/>
                </a:solidFill>
                <a:latin typeface="Calibri"/>
              </a:rPr>
              <a:t>Диаметр (≈¼ земного)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0138" y="1920240"/>
            <a:ext cx="3271418" cy="1554480"/>
          </a:xfrm>
          <a:prstGeom prst="roundRect">
            <a:avLst/>
          </a:prstGeom>
          <a:solidFill>
            <a:srgbClr val="182044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384 400 км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AA6C7"/>
                </a:solidFill>
                <a:latin typeface="Calibri"/>
              </a:rPr>
              <a:t>Среднее расстояние до Земли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1596" y="1920240"/>
            <a:ext cx="3271418" cy="1554480"/>
          </a:xfrm>
          <a:prstGeom prst="roundRect">
            <a:avLst/>
          </a:prstGeom>
          <a:solidFill>
            <a:srgbClr val="182044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27,3 суток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AA6C7"/>
                </a:solidFill>
                <a:latin typeface="Calibri"/>
              </a:rPr>
              <a:t>Период обращения вокруг Земли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94760"/>
            <a:ext cx="3271418" cy="1554480"/>
          </a:xfrm>
          <a:prstGeom prst="roundRect">
            <a:avLst/>
          </a:prstGeom>
          <a:solidFill>
            <a:srgbClr val="182044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1/6 g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AA6C7"/>
                </a:solidFill>
                <a:latin typeface="Calibri"/>
              </a:rPr>
              <a:t>Сила тяжести от земной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3794760"/>
            <a:ext cx="3271418" cy="1554480"/>
          </a:xfrm>
          <a:prstGeom prst="roundRect">
            <a:avLst/>
          </a:prstGeom>
          <a:solidFill>
            <a:srgbClr val="182044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−173…+127 °C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AA6C7"/>
                </a:solidFill>
                <a:latin typeface="Calibri"/>
              </a:rPr>
              <a:t>Перепад температур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1596" y="3794760"/>
            <a:ext cx="3271418" cy="1554480"/>
          </a:xfrm>
          <a:prstGeom prst="roundRect">
            <a:avLst/>
          </a:prstGeom>
          <a:solidFill>
            <a:srgbClr val="182044"/>
          </a:solidFill>
          <a:ln w="12700">
            <a:solidFill>
              <a:srgbClr val="8A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4,5 млрд лет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9AA6C7"/>
                </a:solidFill>
                <a:latin typeface="Calibri"/>
              </a:rPr>
              <a:t>Возраст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Происхождение Луны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Гипотеза гигантского столкновения. </a:t>
            </a:r>
            <a:r>
              <a:rPr sz="2000" b="0">
                <a:solidFill>
                  <a:srgbClr val="C9D8FF"/>
                </a:solidFill>
                <a:latin typeface="Calibri"/>
              </a:rPr>
              <a:t>Около 4,5 млрд лет назад в молодую Землю врезалось тело размером с Марс — Тейя.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Из выброшенных обломков и пыли на околоземной орбите сформировалась Луна.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Эта теория объясняет схожий состав пород Земли и Луны, а также большой размер спутника.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Существуют и другие гипотезы (захват, совместное образование), но столкновение — основная.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Строение Луны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Кора</a:t>
            </a:r>
            <a:r>
              <a:rPr sz="2000" b="0">
                <a:solidFill>
                  <a:srgbClr val="C9D8FF"/>
                </a:solidFill>
                <a:latin typeface="Calibri"/>
              </a:rPr>
              <a:t> — внешний твёрдый слой толщиной около 50 км.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Мантия</a:t>
            </a:r>
            <a:r>
              <a:rPr sz="2000" b="0">
                <a:solidFill>
                  <a:srgbClr val="C9D8FF"/>
                </a:solidFill>
                <a:latin typeface="Calibri"/>
              </a:rPr>
              <a:t> — основная часть объёма, богатая силикатами.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Ядро</a:t>
            </a:r>
            <a:r>
              <a:rPr sz="2000" b="0">
                <a:solidFill>
                  <a:srgbClr val="C9D8FF"/>
                </a:solidFill>
                <a:latin typeface="Calibri"/>
              </a:rPr>
              <a:t> — небольшое, частично расплавленное, радиусом около 350 км.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Поверхность покрыта реголитом — слоем пыли и обломков от метеоритных ударов.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Тёмные «моря» — застывшая лава, светлые области — древние горные материки.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Фазы Луны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9AA6C7"/>
                </a:solidFill>
                <a:latin typeface="Calibri"/>
              </a:rPr>
              <a:t>Полный цикл смены фаз — синодический месяц, около 29,5 суток.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468880"/>
            <a:ext cx="822960" cy="822960"/>
          </a:xfrm>
          <a:prstGeom prst="ellipse">
            <a:avLst/>
          </a:prstGeom>
          <a:solidFill>
            <a:srgbClr val="C9D8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9D8FF"/>
                </a:solidFill>
                <a:latin typeface="Calibri"/>
              </a:rPr>
              <a:t>Новолуние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2468880"/>
            <a:ext cx="822960" cy="822960"/>
          </a:xfrm>
          <a:prstGeom prst="ellipse">
            <a:avLst/>
          </a:prstGeom>
          <a:solidFill>
            <a:srgbClr val="C9D8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246888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9D8FF"/>
                </a:solidFill>
                <a:latin typeface="Calibri"/>
              </a:rPr>
              <a:t>Растущий серп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2468880"/>
            <a:ext cx="822960" cy="822960"/>
          </a:xfrm>
          <a:prstGeom prst="ellipse">
            <a:avLst/>
          </a:prstGeom>
          <a:solidFill>
            <a:srgbClr val="C9D8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9D8FF"/>
                </a:solidFill>
                <a:latin typeface="Calibri"/>
              </a:rPr>
              <a:t>Первая четверть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160520"/>
            <a:ext cx="822960" cy="822960"/>
          </a:xfrm>
          <a:prstGeom prst="ellipse">
            <a:avLst/>
          </a:prstGeom>
          <a:solidFill>
            <a:srgbClr val="C9D8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16052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9D8FF"/>
                </a:solidFill>
                <a:latin typeface="Calibri"/>
              </a:rPr>
              <a:t>Полнолуние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4160520"/>
            <a:ext cx="822960" cy="822960"/>
          </a:xfrm>
          <a:prstGeom prst="ellipse">
            <a:avLst/>
          </a:prstGeom>
          <a:solidFill>
            <a:srgbClr val="C9D8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416052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9D8FF"/>
                </a:solidFill>
                <a:latin typeface="Calibri"/>
              </a:rPr>
              <a:t>Последняя четверть</a:t>
            </a:r>
          </a:p>
        </p:txBody>
      </p:sp>
      <p:sp>
        <p:nvSpPr>
          <p:cNvPr id="16" name="Oval 15"/>
          <p:cNvSpPr/>
          <p:nvPr/>
        </p:nvSpPr>
        <p:spPr>
          <a:xfrm>
            <a:off x="8275320" y="4160520"/>
            <a:ext cx="822960" cy="822960"/>
          </a:xfrm>
          <a:prstGeom prst="ellipse">
            <a:avLst/>
          </a:prstGeom>
          <a:solidFill>
            <a:srgbClr val="C9D8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16052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9D8FF"/>
                </a:solidFill>
                <a:latin typeface="Calibri"/>
              </a:rPr>
              <a:t>Убывающий серп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Влияние на Землю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Приливы и отливы. </a:t>
            </a:r>
            <a:r>
              <a:rPr sz="2000" b="0">
                <a:solidFill>
                  <a:srgbClr val="C9D8FF"/>
                </a:solidFill>
                <a:latin typeface="Calibri"/>
              </a:rPr>
              <a:t>Притяжение Луны поднимает уровень океанов дважды в сутки.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Стабилизация оси. </a:t>
            </a:r>
            <a:r>
              <a:rPr sz="2000" b="0">
                <a:solidFill>
                  <a:srgbClr val="C9D8FF"/>
                </a:solidFill>
                <a:latin typeface="Calibri"/>
              </a:rPr>
              <a:t>Луна удерживает наклон земной оси, делая климат устойчивым.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Замедление вращения. </a:t>
            </a:r>
            <a:r>
              <a:rPr sz="2000" b="0">
                <a:solidFill>
                  <a:srgbClr val="C9D8FF"/>
                </a:solidFill>
                <a:latin typeface="Calibri"/>
              </a:rPr>
              <a:t>Из-за приливного трения сутки на Земле постепенно удлиняются.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Удаление. </a:t>
            </a:r>
            <a:r>
              <a:rPr sz="2000" b="0">
                <a:solidFill>
                  <a:srgbClr val="C9D8FF"/>
                </a:solidFill>
                <a:latin typeface="Calibri"/>
              </a:rPr>
              <a:t>Луна отдаляется от Земли примерно на 3,8 см в год.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Исследование Луны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200" b="1">
                <a:solidFill>
                  <a:srgbClr val="8AB4FF"/>
                </a:solidFill>
              </a:rPr>
              <a:t>1959   </a:t>
            </a:r>
            <a:r>
              <a:rPr sz="2000">
                <a:solidFill>
                  <a:srgbClr val="C9D8FF"/>
                </a:solidFill>
              </a:rPr>
              <a:t>«Луна-2» — первый аппарат, достигший поверхности Луны.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200" b="1">
                <a:solidFill>
                  <a:srgbClr val="8AB4FF"/>
                </a:solidFill>
              </a:rPr>
              <a:t>1966   </a:t>
            </a:r>
            <a:r>
              <a:rPr sz="2000">
                <a:solidFill>
                  <a:srgbClr val="C9D8FF"/>
                </a:solidFill>
              </a:rPr>
              <a:t>«Луна-9» — первая мягкая посадка.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200" b="1">
                <a:solidFill>
                  <a:srgbClr val="8AB4FF"/>
                </a:solidFill>
              </a:rPr>
              <a:t>1969   </a:t>
            </a:r>
            <a:r>
              <a:rPr sz="2000">
                <a:solidFill>
                  <a:srgbClr val="C9D8FF"/>
                </a:solidFill>
              </a:rPr>
              <a:t>«Аполлон-11» — первые люди на Луне: Армстронг и Олдрин.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200" b="1">
                <a:solidFill>
                  <a:srgbClr val="8AB4FF"/>
                </a:solidFill>
              </a:rPr>
              <a:t>1970   </a:t>
            </a:r>
            <a:r>
              <a:rPr sz="2000">
                <a:solidFill>
                  <a:srgbClr val="C9D8FF"/>
                </a:solidFill>
              </a:rPr>
              <a:t>«Луноход-1» — первый планетоход на другом небесном теле.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200" b="1">
                <a:solidFill>
                  <a:srgbClr val="8AB4FF"/>
                </a:solidFill>
              </a:rPr>
              <a:t>2020-е   </a:t>
            </a:r>
            <a:r>
              <a:rPr sz="2000">
                <a:solidFill>
                  <a:srgbClr val="C9D8FF"/>
                </a:solidFill>
              </a:rPr>
              <a:t>Новая лунная гонка: программа «Артемида», миссии Китая и Индии.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Интересные факты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914400" cy="63500"/>
          </a:xfrm>
          <a:prstGeom prst="roundRect">
            <a:avLst/>
          </a:prstGeom>
          <a:solidFill>
            <a:srgbClr val="8A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На Луне нет атмосферы, поэтому небо там всегда чёрное, а звук не распространяется.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Следы астронавтов могут сохраняться миллионы лет — их некому стереть.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С Земли видно всегда около 59% поверхности Луны.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Свет от Луны доходит до Земли примерно за 1,3 секунды.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8AB4FF"/>
                </a:solidFill>
              </a:rPr>
              <a:t>●  </a:t>
            </a:r>
            <a:r>
              <a:rPr sz="2000" b="0">
                <a:solidFill>
                  <a:srgbClr val="C9D8FF"/>
                </a:solidFill>
                <a:latin typeface="Calibri"/>
              </a:rPr>
              <a:t>Полное лунное затмение окрашивает Луну в красный цвет — «кровавая Луна».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83A"/>
              </a:gs>
              <a:gs pos="100000">
                <a:srgbClr val="05060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94376" y="1188720"/>
            <a:ext cx="1600200" cy="1600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8E9BC4"/>
              </a:gs>
            </a:gsLst>
            <a:path path="circle">
              <a:fillToRect l="30000" t="30000" r="70000" b="70000"/>
            </a:path>
          </a:gradFill>
          <a:ln w="9525">
            <a:solidFill>
              <a:srgbClr val="6F80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sz="2200" b="0">
                <a:solidFill>
                  <a:srgbClr val="C9D8FF"/>
                </a:solidFill>
                <a:latin typeface="Calibri"/>
              </a:rPr>
              <a:t>Луна — наш ближайший космический сосед и ключ к пониманию Солнечной системы.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