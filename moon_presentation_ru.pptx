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3333000" cy="7500000" type="wide"/>
  <p:notesSz cx="6858000" cy="9144000"/>
  <p:defaultTextStyle>
    <a:defPPr>
      <a:defRPr lang="ru-RU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theme" Target="theme/theme1.xml"/>
<Relationship Id="rId11" Type="http://schemas.openxmlformats.org/officeDocument/2006/relationships/presProps" Target="presProps.xml"/>
<Relationship Id="rId12" Type="http://schemas.openxmlformats.org/officeDocument/2006/relationships/viewProps" Target="viewProps.xml"/>
<Relationship Id="rId13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3333000" cy="7500000"/>
          </a:xfrm>
          <a:solidFill>
            <a:srgbClr val="070B18"/>
          </a:solidFill>
          <a:prstGeom prst="rect">
            <a:avLst/>
          </a:prstGeom>
          <a:ln>
            <a:noFill/>
          </a:ln>
        </p:spPr>
      </p:sp>
      <p:sp>
        <p:nvSpPr>
          <p:cNvPr id="3" name="gold line"/>
          <p:cNvSpPr/>
          <p:nvPr/>
        </p:nvSpPr>
        <p:spPr>
          <a:xfrm>
            <a:off x="0" y="6900000"/>
            <a:ext cx="13333000" cy="90000"/>
          </a:xfrm>
          <a:solidFill>
            <a:srgbClr val="F7C948"/>
          </a:solidFill>
          <a:prstGeom prst="rect">
            <a:avLst/>
          </a:prstGeom>
          <a:ln>
            <a:noFill/>
          </a:ln>
        </p:spPr>
      </p:sp>
      <p:sp>
        <p:nvSpPr>
          <p:cNvPr id="20" name="title"/>
          <p:cNvSpPr txBox="1"/>
          <p:nvPr/>
        </p:nvSpPr>
        <p:spPr>
          <a:xfrm>
            <a:off x="780000" y="970000"/>
            <a:ext cx="69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5600" b="1">
                <a:solidFill>
                  <a:srgbClr val="FFFFFF"/>
                </a:solidFill>
              </a:rPr>
              <a:t>Луна</a:t>
            </a:r>
          </a:p>
        </p:txBody>
      </p:sp>
      <p:sp>
        <p:nvSpPr>
          <p:cNvPr id="21" name="subtitle"/>
          <p:cNvSpPr txBox="1"/>
          <p:nvPr/>
        </p:nvSpPr>
        <p:spPr>
          <a:xfrm>
            <a:off x="820000" y="1870000"/>
            <a:ext cx="68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200">
                <a:solidFill>
                  <a:srgbClr val="BFD7FF"/>
                </a:solidFill>
              </a:rPr>
              <a:t>Ближайший естественный спутник Земли</a:t>
            </a:r>
          </a:p>
        </p:txBody>
      </p:sp>
      <p:sp>
        <p:nvSpPr>
          <p:cNvPr id="22" name="caption"/>
          <p:cNvSpPr txBox="1"/>
          <p:nvPr/>
        </p:nvSpPr>
        <p:spPr>
          <a:xfrm>
            <a:off x="820000" y="5850000"/>
            <a:ext cx="63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800">
                <a:solidFill>
                  <a:srgbClr val="D7E3F7"/>
                </a:solidFill>
              </a:rPr>
              <a:t>Краткая презентация о происхождении, свойствах и значении Луны</a:t>
            </a:r>
          </a:p>
        </p:txBody>
      </p:sp>
      <p:sp>
        <p:nvSpPr>
          <p:cNvPr id="80" name="Moon"/>
          <p:cNvSpPr/>
          <p:nvPr/>
        </p:nvSpPr>
        <p:spPr>
          <a:xfrm>
            <a:off x="8100000" y="860000"/>
            <a:ext cx="4230000" cy="4230000"/>
          </a:xfrm>
          <a:solidFill>
            <a:srgbClr val="D9DEE8"/>
          </a:solidFill>
          <a:prstGeom prst="ellipse">
            <a:avLst/>
          </a:prstGeom>
          <a:ln>
            <a:solidFill>
              <a:srgbClr val="F8FAFC"/>
            </a:solidFill>
          </a:ln>
        </p:spPr>
      </p:sp>
      <p:sp>
        <p:nvSpPr>
          <p:cNvPr id="81" name="Moon shadow"/>
          <p:cNvSpPr/>
          <p:nvPr/>
        </p:nvSpPr>
        <p:spPr>
          <a:xfrm>
            <a:off x="10553400" y="1029200"/>
            <a:ext cx="1565100" cy="3891600"/>
          </a:xfrm>
          <a:solidFill>
            <a:srgbClr val="AAB2C2">
              <a:alpha val="2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2" name="Crater"/>
          <p:cNvSpPr/>
          <p:nvPr/>
        </p:nvSpPr>
        <p:spPr>
          <a:xfrm>
            <a:off x="8946000" y="1663700"/>
            <a:ext cx="549900" cy="5499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3" name="Crater"/>
          <p:cNvSpPr/>
          <p:nvPr/>
        </p:nvSpPr>
        <p:spPr>
          <a:xfrm>
            <a:off x="10384200" y="1536800"/>
            <a:ext cx="338400" cy="3384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4" name="Crater"/>
          <p:cNvSpPr/>
          <p:nvPr/>
        </p:nvSpPr>
        <p:spPr>
          <a:xfrm>
            <a:off x="10891800" y="2636600"/>
            <a:ext cx="634500" cy="6345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5" name="Crater"/>
          <p:cNvSpPr/>
          <p:nvPr/>
        </p:nvSpPr>
        <p:spPr>
          <a:xfrm>
            <a:off x="9411300" y="3186500"/>
            <a:ext cx="423000" cy="423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6" name="Crater"/>
          <p:cNvSpPr/>
          <p:nvPr/>
        </p:nvSpPr>
        <p:spPr>
          <a:xfrm>
            <a:off x="10215000" y="3821000"/>
            <a:ext cx="507600" cy="5076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7" name="Crater"/>
          <p:cNvSpPr/>
          <p:nvPr/>
        </p:nvSpPr>
        <p:spPr>
          <a:xfrm>
            <a:off x="8861400" y="4074800"/>
            <a:ext cx="253800" cy="2538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90" name="earth"/>
          <p:cNvSpPr/>
          <p:nvPr/>
        </p:nvSpPr>
        <p:spPr>
          <a:xfrm>
            <a:off x="10920000" y="5500000"/>
            <a:ext cx="930000" cy="930000"/>
          </a:xfrm>
          <a:solidFill>
            <a:srgbClr val="2563EB"/>
          </a:solidFill>
          <a:prstGeom prst="ellipse">
            <a:avLst/>
          </a:prstGeom>
          <a:ln>
            <a:solidFill>
              <a:srgbClr val="93C5FD"/>
            </a:solidFill>
          </a:ln>
        </p:spPr>
      </p:sp>
      <p:sp>
        <p:nvSpPr>
          <p:cNvPr id="91" name="earth land"/>
          <p:cNvSpPr/>
          <p:nvPr/>
        </p:nvSpPr>
        <p:spPr>
          <a:xfrm>
            <a:off x="11150000" y="5670000"/>
            <a:ext cx="310000" cy="210000"/>
          </a:xfrm>
          <a:solidFill>
            <a:srgbClr val="22C55E">
              <a:alpha val="70000"/>
            </a:srgbClr>
          </a:solidFill>
          <a:prstGeom prst="ellipse">
            <a:avLst/>
          </a:prstGeom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3333000" cy="7500000"/>
          </a:xfrm>
          <a:solidFill>
            <a:srgbClr val="0B1020"/>
          </a:solidFill>
          <a:prstGeom prst="rect">
            <a:avLst/>
          </a:prstGeom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260000" cy="7500000"/>
          </a:xfrm>
          <a:solidFill>
            <a:srgbClr val="F7C948"/>
          </a:solidFill>
          <a:prstGeom prst="rect">
            <a:avLst/>
          </a:prstGeom>
          <a:ln>
            <a:noFill/>
          </a:ln>
        </p:spPr>
      </p:sp>
      <p:sp>
        <p:nvSpPr>
          <p:cNvPr id="4" name="top glow"/>
          <p:cNvSpPr/>
          <p:nvPr/>
        </p:nvSpPr>
        <p:spPr>
          <a:xfrm>
            <a:off x="6400000" y="-1000000"/>
            <a:ext cx="4500000" cy="4500000"/>
          </a:xfrm>
          <a:solidFill>
            <a:srgbClr val="1E3A8A">
              <a:alpha val="3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20" name="title"/>
          <p:cNvSpPr txBox="1"/>
          <p:nvPr/>
        </p:nvSpPr>
        <p:spPr>
          <a:xfrm>
            <a:off x="670000" y="460000"/>
            <a:ext cx="89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3900" b="1">
                <a:solidFill>
                  <a:srgbClr val="FFFFFF"/>
                </a:solidFill>
              </a:rPr>
              <a:t>Что такое Луна</a:t>
            </a:r>
          </a:p>
        </p:txBody>
      </p:sp>
      <p:sp>
        <p:nvSpPr>
          <p:cNvPr id="21" name="subtitle"/>
          <p:cNvSpPr txBox="1"/>
          <p:nvPr/>
        </p:nvSpPr>
        <p:spPr>
          <a:xfrm>
            <a:off x="690000" y="1220000"/>
            <a:ext cx="84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000">
                <a:solidFill>
                  <a:srgbClr val="BFD7FF"/>
                </a:solidFill>
              </a:rPr>
              <a:t>Основные характеристики</a:t>
            </a:r>
          </a:p>
        </p:txBody>
      </p:sp>
      <p:sp>
        <p:nvSpPr>
          <p:cNvPr id="30" name="bullet"/>
          <p:cNvSpPr/>
          <p:nvPr/>
        </p:nvSpPr>
        <p:spPr>
          <a:xfrm>
            <a:off x="760000" y="218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1" name="bullet text"/>
          <p:cNvSpPr txBox="1"/>
          <p:nvPr/>
        </p:nvSpPr>
        <p:spPr>
          <a:xfrm>
            <a:off x="970000" y="208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Среднее расстояние до Земли — около 384 400 км.</a:t>
            </a:r>
          </a:p>
        </p:txBody>
      </p:sp>
      <p:sp>
        <p:nvSpPr>
          <p:cNvPr id="32" name="bullet"/>
          <p:cNvSpPr/>
          <p:nvPr/>
        </p:nvSpPr>
        <p:spPr>
          <a:xfrm>
            <a:off x="760000" y="277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3" name="bullet text"/>
          <p:cNvSpPr txBox="1"/>
          <p:nvPr/>
        </p:nvSpPr>
        <p:spPr>
          <a:xfrm>
            <a:off x="970000" y="267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Диаметр — 3 474 км, примерно четверть диаметра Земли.</a:t>
            </a:r>
          </a:p>
        </p:txBody>
      </p:sp>
      <p:sp>
        <p:nvSpPr>
          <p:cNvPr id="34" name="bullet"/>
          <p:cNvSpPr/>
          <p:nvPr/>
        </p:nvSpPr>
        <p:spPr>
          <a:xfrm>
            <a:off x="760000" y="336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5" name="bullet text"/>
          <p:cNvSpPr txBox="1"/>
          <p:nvPr/>
        </p:nvSpPr>
        <p:spPr>
          <a:xfrm>
            <a:off x="970000" y="326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Сила тяжести на поверхности почти в 6 раз меньше земной.</a:t>
            </a:r>
          </a:p>
        </p:txBody>
      </p:sp>
      <p:sp>
        <p:nvSpPr>
          <p:cNvPr id="36" name="bullet"/>
          <p:cNvSpPr/>
          <p:nvPr/>
        </p:nvSpPr>
        <p:spPr>
          <a:xfrm>
            <a:off x="760000" y="395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7" name="bullet text"/>
          <p:cNvSpPr txBox="1"/>
          <p:nvPr/>
        </p:nvSpPr>
        <p:spPr>
          <a:xfrm>
            <a:off x="970000" y="385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Луна всегда обращена к Земле почти одной стороной.</a:t>
            </a:r>
          </a:p>
        </p:txBody>
      </p:sp>
      <p:sp>
        <p:nvSpPr>
          <p:cNvPr id="80" name="Moon"/>
          <p:cNvSpPr/>
          <p:nvPr/>
        </p:nvSpPr>
        <p:spPr>
          <a:xfrm>
            <a:off x="9360000" y="1850000"/>
            <a:ext cx="2900000" cy="2900000"/>
          </a:xfrm>
          <a:solidFill>
            <a:srgbClr val="D9DEE8"/>
          </a:solidFill>
          <a:prstGeom prst="ellipse">
            <a:avLst/>
          </a:prstGeom>
          <a:ln>
            <a:solidFill>
              <a:srgbClr val="F8FAFC"/>
            </a:solidFill>
          </a:ln>
        </p:spPr>
      </p:sp>
      <p:sp>
        <p:nvSpPr>
          <p:cNvPr id="81" name="Moon shadow"/>
          <p:cNvSpPr/>
          <p:nvPr/>
        </p:nvSpPr>
        <p:spPr>
          <a:xfrm>
            <a:off x="11042000" y="1966000"/>
            <a:ext cx="1073000" cy="2668000"/>
          </a:xfrm>
          <a:solidFill>
            <a:srgbClr val="AAB2C2">
              <a:alpha val="2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2" name="Crater"/>
          <p:cNvSpPr/>
          <p:nvPr/>
        </p:nvSpPr>
        <p:spPr>
          <a:xfrm>
            <a:off x="9940000" y="2401000"/>
            <a:ext cx="377000" cy="377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3" name="Crater"/>
          <p:cNvSpPr/>
          <p:nvPr/>
        </p:nvSpPr>
        <p:spPr>
          <a:xfrm>
            <a:off x="10926000" y="2314000"/>
            <a:ext cx="232000" cy="232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4" name="Crater"/>
          <p:cNvSpPr/>
          <p:nvPr/>
        </p:nvSpPr>
        <p:spPr>
          <a:xfrm>
            <a:off x="11274000" y="3068000"/>
            <a:ext cx="435000" cy="435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5" name="Crater"/>
          <p:cNvSpPr/>
          <p:nvPr/>
        </p:nvSpPr>
        <p:spPr>
          <a:xfrm>
            <a:off x="10259000" y="3445000"/>
            <a:ext cx="290000" cy="290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6" name="Crater"/>
          <p:cNvSpPr/>
          <p:nvPr/>
        </p:nvSpPr>
        <p:spPr>
          <a:xfrm>
            <a:off x="10810000" y="3879999"/>
            <a:ext cx="348000" cy="348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7" name="Crater"/>
          <p:cNvSpPr/>
          <p:nvPr/>
        </p:nvSpPr>
        <p:spPr>
          <a:xfrm>
            <a:off x="9882000" y="4054000"/>
            <a:ext cx="174000" cy="174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3333000" cy="7500000"/>
          </a:xfrm>
          <a:solidFill>
            <a:srgbClr val="0B1020"/>
          </a:solidFill>
          <a:prstGeom prst="rect">
            <a:avLst/>
          </a:prstGeom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260000" cy="7500000"/>
          </a:xfrm>
          <a:solidFill>
            <a:srgbClr val="F7C948"/>
          </a:solidFill>
          <a:prstGeom prst="rect">
            <a:avLst/>
          </a:prstGeom>
          <a:ln>
            <a:noFill/>
          </a:ln>
        </p:spPr>
      </p:sp>
      <p:sp>
        <p:nvSpPr>
          <p:cNvPr id="4" name="top glow"/>
          <p:cNvSpPr/>
          <p:nvPr/>
        </p:nvSpPr>
        <p:spPr>
          <a:xfrm>
            <a:off x="6400000" y="-1000000"/>
            <a:ext cx="4500000" cy="4500000"/>
          </a:xfrm>
          <a:solidFill>
            <a:srgbClr val="1E3A8A">
              <a:alpha val="3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20" name="title"/>
          <p:cNvSpPr txBox="1"/>
          <p:nvPr/>
        </p:nvSpPr>
        <p:spPr>
          <a:xfrm>
            <a:off x="670000" y="460000"/>
            <a:ext cx="89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3900" b="1">
                <a:solidFill>
                  <a:srgbClr val="FFFFFF"/>
                </a:solidFill>
              </a:rPr>
              <a:t>Как Луна появилась</a:t>
            </a:r>
          </a:p>
        </p:txBody>
      </p:sp>
      <p:sp>
        <p:nvSpPr>
          <p:cNvPr id="21" name="subtitle"/>
          <p:cNvSpPr txBox="1"/>
          <p:nvPr/>
        </p:nvSpPr>
        <p:spPr>
          <a:xfrm>
            <a:off x="690000" y="1220000"/>
            <a:ext cx="84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000">
                <a:solidFill>
                  <a:srgbClr val="BFD7FF"/>
                </a:solidFill>
              </a:rPr>
              <a:t>Гипотеза гигантского столкновения</a:t>
            </a:r>
          </a:p>
        </p:txBody>
      </p:sp>
      <p:sp>
        <p:nvSpPr>
          <p:cNvPr id="30" name="bullet"/>
          <p:cNvSpPr/>
          <p:nvPr/>
        </p:nvSpPr>
        <p:spPr>
          <a:xfrm>
            <a:off x="760000" y="218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1" name="bullet text"/>
          <p:cNvSpPr txBox="1"/>
          <p:nvPr/>
        </p:nvSpPr>
        <p:spPr>
          <a:xfrm>
            <a:off x="970000" y="208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Около 4,5 млрд лет назад молодая Земля столкнулась с крупным телом.</a:t>
            </a:r>
          </a:p>
        </p:txBody>
      </p:sp>
      <p:sp>
        <p:nvSpPr>
          <p:cNvPr id="32" name="bullet"/>
          <p:cNvSpPr/>
          <p:nvPr/>
        </p:nvSpPr>
        <p:spPr>
          <a:xfrm>
            <a:off x="760000" y="277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3" name="bullet text"/>
          <p:cNvSpPr txBox="1"/>
          <p:nvPr/>
        </p:nvSpPr>
        <p:spPr>
          <a:xfrm>
            <a:off x="970000" y="267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Выброшенное вещество образовало диск вокруг Земли.</a:t>
            </a:r>
          </a:p>
        </p:txBody>
      </p:sp>
      <p:sp>
        <p:nvSpPr>
          <p:cNvPr id="34" name="bullet"/>
          <p:cNvSpPr/>
          <p:nvPr/>
        </p:nvSpPr>
        <p:spPr>
          <a:xfrm>
            <a:off x="760000" y="336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5" name="bullet text"/>
          <p:cNvSpPr txBox="1"/>
          <p:nvPr/>
        </p:nvSpPr>
        <p:spPr>
          <a:xfrm>
            <a:off x="970000" y="326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Из этого диска постепенно сформировалась Луна.</a:t>
            </a:r>
          </a:p>
        </p:txBody>
      </p:sp>
      <p:sp>
        <p:nvSpPr>
          <p:cNvPr id="36" name="bullet"/>
          <p:cNvSpPr/>
          <p:nvPr/>
        </p:nvSpPr>
        <p:spPr>
          <a:xfrm>
            <a:off x="760000" y="395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7" name="bullet text"/>
          <p:cNvSpPr txBox="1"/>
          <p:nvPr/>
        </p:nvSpPr>
        <p:spPr>
          <a:xfrm>
            <a:off x="970000" y="385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Состав лунных пород помогает проверять эту гипотезу.</a:t>
            </a:r>
          </a:p>
        </p:txBody>
      </p:sp>
      <p:sp>
        <p:nvSpPr>
          <p:cNvPr id="80" name="Moon"/>
          <p:cNvSpPr/>
          <p:nvPr/>
        </p:nvSpPr>
        <p:spPr>
          <a:xfrm>
            <a:off x="9360000" y="1850000"/>
            <a:ext cx="2900000" cy="2900000"/>
          </a:xfrm>
          <a:solidFill>
            <a:srgbClr val="D9DEE8"/>
          </a:solidFill>
          <a:prstGeom prst="ellipse">
            <a:avLst/>
          </a:prstGeom>
          <a:ln>
            <a:solidFill>
              <a:srgbClr val="F8FAFC"/>
            </a:solidFill>
          </a:ln>
        </p:spPr>
      </p:sp>
      <p:sp>
        <p:nvSpPr>
          <p:cNvPr id="81" name="Moon shadow"/>
          <p:cNvSpPr/>
          <p:nvPr/>
        </p:nvSpPr>
        <p:spPr>
          <a:xfrm>
            <a:off x="11042000" y="1966000"/>
            <a:ext cx="1073000" cy="2668000"/>
          </a:xfrm>
          <a:solidFill>
            <a:srgbClr val="AAB2C2">
              <a:alpha val="2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2" name="Crater"/>
          <p:cNvSpPr/>
          <p:nvPr/>
        </p:nvSpPr>
        <p:spPr>
          <a:xfrm>
            <a:off x="9940000" y="2401000"/>
            <a:ext cx="377000" cy="377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3" name="Crater"/>
          <p:cNvSpPr/>
          <p:nvPr/>
        </p:nvSpPr>
        <p:spPr>
          <a:xfrm>
            <a:off x="10926000" y="2314000"/>
            <a:ext cx="232000" cy="232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4" name="Crater"/>
          <p:cNvSpPr/>
          <p:nvPr/>
        </p:nvSpPr>
        <p:spPr>
          <a:xfrm>
            <a:off x="11274000" y="3068000"/>
            <a:ext cx="435000" cy="435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5" name="Crater"/>
          <p:cNvSpPr/>
          <p:nvPr/>
        </p:nvSpPr>
        <p:spPr>
          <a:xfrm>
            <a:off x="10259000" y="3445000"/>
            <a:ext cx="290000" cy="290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6" name="Crater"/>
          <p:cNvSpPr/>
          <p:nvPr/>
        </p:nvSpPr>
        <p:spPr>
          <a:xfrm>
            <a:off x="10810000" y="3879999"/>
            <a:ext cx="348000" cy="348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7" name="Crater"/>
          <p:cNvSpPr/>
          <p:nvPr/>
        </p:nvSpPr>
        <p:spPr>
          <a:xfrm>
            <a:off x="9882000" y="4054000"/>
            <a:ext cx="174000" cy="174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3333000" cy="7500000"/>
          </a:xfrm>
          <a:solidFill>
            <a:srgbClr val="0B1020"/>
          </a:solidFill>
          <a:prstGeom prst="rect">
            <a:avLst/>
          </a:prstGeom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260000" cy="7500000"/>
          </a:xfrm>
          <a:solidFill>
            <a:srgbClr val="F7C948"/>
          </a:solidFill>
          <a:prstGeom prst="rect">
            <a:avLst/>
          </a:prstGeom>
          <a:ln>
            <a:noFill/>
          </a:ln>
        </p:spPr>
      </p:sp>
      <p:sp>
        <p:nvSpPr>
          <p:cNvPr id="4" name="top glow"/>
          <p:cNvSpPr/>
          <p:nvPr/>
        </p:nvSpPr>
        <p:spPr>
          <a:xfrm>
            <a:off x="6400000" y="-1000000"/>
            <a:ext cx="4500000" cy="4500000"/>
          </a:xfrm>
          <a:solidFill>
            <a:srgbClr val="1E3A8A">
              <a:alpha val="3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20" name="title"/>
          <p:cNvSpPr txBox="1"/>
          <p:nvPr/>
        </p:nvSpPr>
        <p:spPr>
          <a:xfrm>
            <a:off x="670000" y="460000"/>
            <a:ext cx="89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3900" b="1">
                <a:solidFill>
                  <a:srgbClr val="FFFFFF"/>
                </a:solidFill>
              </a:rPr>
              <a:t>Поверхность Луны</a:t>
            </a:r>
          </a:p>
        </p:txBody>
      </p:sp>
      <p:sp>
        <p:nvSpPr>
          <p:cNvPr id="21" name="subtitle"/>
          <p:cNvSpPr txBox="1"/>
          <p:nvPr/>
        </p:nvSpPr>
        <p:spPr>
          <a:xfrm>
            <a:off x="690000" y="1220000"/>
            <a:ext cx="84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000">
                <a:solidFill>
                  <a:srgbClr val="BFD7FF"/>
                </a:solidFill>
              </a:rPr>
              <a:t>Моря, кратеры и реголит</a:t>
            </a:r>
          </a:p>
        </p:txBody>
      </p:sp>
      <p:sp>
        <p:nvSpPr>
          <p:cNvPr id="30" name="bullet"/>
          <p:cNvSpPr/>
          <p:nvPr/>
        </p:nvSpPr>
        <p:spPr>
          <a:xfrm>
            <a:off x="760000" y="218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1" name="bullet text"/>
          <p:cNvSpPr txBox="1"/>
          <p:nvPr/>
        </p:nvSpPr>
        <p:spPr>
          <a:xfrm>
            <a:off x="970000" y="208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Тёмные «моря» — древние лавовые равнины, а не вода.</a:t>
            </a:r>
          </a:p>
        </p:txBody>
      </p:sp>
      <p:sp>
        <p:nvSpPr>
          <p:cNvPr id="32" name="bullet"/>
          <p:cNvSpPr/>
          <p:nvPr/>
        </p:nvSpPr>
        <p:spPr>
          <a:xfrm>
            <a:off x="760000" y="277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3" name="bullet text"/>
          <p:cNvSpPr txBox="1"/>
          <p:nvPr/>
        </p:nvSpPr>
        <p:spPr>
          <a:xfrm>
            <a:off x="970000" y="267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Кратеры образованы ударами метеоритов и астероидов.</a:t>
            </a:r>
          </a:p>
        </p:txBody>
      </p:sp>
      <p:sp>
        <p:nvSpPr>
          <p:cNvPr id="34" name="bullet"/>
          <p:cNvSpPr/>
          <p:nvPr/>
        </p:nvSpPr>
        <p:spPr>
          <a:xfrm>
            <a:off x="760000" y="336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5" name="bullet text"/>
          <p:cNvSpPr txBox="1"/>
          <p:nvPr/>
        </p:nvSpPr>
        <p:spPr>
          <a:xfrm>
            <a:off x="970000" y="326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Поверхность покрыта реголитом — слоем пыли и обломков.</a:t>
            </a:r>
          </a:p>
        </p:txBody>
      </p:sp>
      <p:sp>
        <p:nvSpPr>
          <p:cNvPr id="36" name="bullet"/>
          <p:cNvSpPr/>
          <p:nvPr/>
        </p:nvSpPr>
        <p:spPr>
          <a:xfrm>
            <a:off x="760000" y="395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7" name="bullet text"/>
          <p:cNvSpPr txBox="1"/>
          <p:nvPr/>
        </p:nvSpPr>
        <p:spPr>
          <a:xfrm>
            <a:off x="970000" y="385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Из-за слабой атмосферы перепады температур очень велики.</a:t>
            </a:r>
          </a:p>
        </p:txBody>
      </p:sp>
      <p:sp>
        <p:nvSpPr>
          <p:cNvPr id="80" name="Moon"/>
          <p:cNvSpPr/>
          <p:nvPr/>
        </p:nvSpPr>
        <p:spPr>
          <a:xfrm>
            <a:off x="9360000" y="1850000"/>
            <a:ext cx="2900000" cy="2900000"/>
          </a:xfrm>
          <a:solidFill>
            <a:srgbClr val="D9DEE8"/>
          </a:solidFill>
          <a:prstGeom prst="ellipse">
            <a:avLst/>
          </a:prstGeom>
          <a:ln>
            <a:solidFill>
              <a:srgbClr val="F8FAFC"/>
            </a:solidFill>
          </a:ln>
        </p:spPr>
      </p:sp>
      <p:sp>
        <p:nvSpPr>
          <p:cNvPr id="81" name="Moon shadow"/>
          <p:cNvSpPr/>
          <p:nvPr/>
        </p:nvSpPr>
        <p:spPr>
          <a:xfrm>
            <a:off x="11042000" y="1966000"/>
            <a:ext cx="1073000" cy="2668000"/>
          </a:xfrm>
          <a:solidFill>
            <a:srgbClr val="AAB2C2">
              <a:alpha val="2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2" name="Crater"/>
          <p:cNvSpPr/>
          <p:nvPr/>
        </p:nvSpPr>
        <p:spPr>
          <a:xfrm>
            <a:off x="9940000" y="2401000"/>
            <a:ext cx="377000" cy="377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3" name="Crater"/>
          <p:cNvSpPr/>
          <p:nvPr/>
        </p:nvSpPr>
        <p:spPr>
          <a:xfrm>
            <a:off x="10926000" y="2314000"/>
            <a:ext cx="232000" cy="232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4" name="Crater"/>
          <p:cNvSpPr/>
          <p:nvPr/>
        </p:nvSpPr>
        <p:spPr>
          <a:xfrm>
            <a:off x="11274000" y="3068000"/>
            <a:ext cx="435000" cy="435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5" name="Crater"/>
          <p:cNvSpPr/>
          <p:nvPr/>
        </p:nvSpPr>
        <p:spPr>
          <a:xfrm>
            <a:off x="10259000" y="3445000"/>
            <a:ext cx="290000" cy="290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6" name="Crater"/>
          <p:cNvSpPr/>
          <p:nvPr/>
        </p:nvSpPr>
        <p:spPr>
          <a:xfrm>
            <a:off x="10810000" y="3879999"/>
            <a:ext cx="348000" cy="348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7" name="Crater"/>
          <p:cNvSpPr/>
          <p:nvPr/>
        </p:nvSpPr>
        <p:spPr>
          <a:xfrm>
            <a:off x="9882000" y="4054000"/>
            <a:ext cx="174000" cy="174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3333000" cy="7500000"/>
          </a:xfrm>
          <a:solidFill>
            <a:srgbClr val="0B1020"/>
          </a:solidFill>
          <a:prstGeom prst="rect">
            <a:avLst/>
          </a:prstGeom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260000" cy="7500000"/>
          </a:xfrm>
          <a:solidFill>
            <a:srgbClr val="F7C948"/>
          </a:solidFill>
          <a:prstGeom prst="rect">
            <a:avLst/>
          </a:prstGeom>
          <a:ln>
            <a:noFill/>
          </a:ln>
        </p:spPr>
      </p:sp>
      <p:sp>
        <p:nvSpPr>
          <p:cNvPr id="4" name="top glow"/>
          <p:cNvSpPr/>
          <p:nvPr/>
        </p:nvSpPr>
        <p:spPr>
          <a:xfrm>
            <a:off x="6400000" y="-1000000"/>
            <a:ext cx="4500000" cy="4500000"/>
          </a:xfrm>
          <a:solidFill>
            <a:srgbClr val="1E3A8A">
              <a:alpha val="3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20" name="title"/>
          <p:cNvSpPr txBox="1"/>
          <p:nvPr/>
        </p:nvSpPr>
        <p:spPr>
          <a:xfrm>
            <a:off x="670000" y="460000"/>
            <a:ext cx="89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3900" b="1">
                <a:solidFill>
                  <a:srgbClr val="FFFFFF"/>
                </a:solidFill>
              </a:rPr>
              <a:t>Фазы Луны</a:t>
            </a:r>
          </a:p>
        </p:txBody>
      </p:sp>
      <p:sp>
        <p:nvSpPr>
          <p:cNvPr id="21" name="subtitle"/>
          <p:cNvSpPr txBox="1"/>
          <p:nvPr/>
        </p:nvSpPr>
        <p:spPr>
          <a:xfrm>
            <a:off x="690000" y="1220000"/>
            <a:ext cx="84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000">
                <a:solidFill>
                  <a:srgbClr val="BFD7FF"/>
                </a:solidFill>
              </a:rPr>
              <a:t>Почему её вид меняется</a:t>
            </a:r>
          </a:p>
        </p:txBody>
      </p:sp>
      <p:sp>
        <p:nvSpPr>
          <p:cNvPr id="30" name="bullet"/>
          <p:cNvSpPr/>
          <p:nvPr/>
        </p:nvSpPr>
        <p:spPr>
          <a:xfrm>
            <a:off x="760000" y="218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1" name="bullet text"/>
          <p:cNvSpPr txBox="1"/>
          <p:nvPr/>
        </p:nvSpPr>
        <p:spPr>
          <a:xfrm>
            <a:off x="970000" y="208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Луна светит отражённым солнечным светом.</a:t>
            </a:r>
          </a:p>
        </p:txBody>
      </p:sp>
      <p:sp>
        <p:nvSpPr>
          <p:cNvPr id="32" name="bullet"/>
          <p:cNvSpPr/>
          <p:nvPr/>
        </p:nvSpPr>
        <p:spPr>
          <a:xfrm>
            <a:off x="760000" y="277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3" name="bullet text"/>
          <p:cNvSpPr txBox="1"/>
          <p:nvPr/>
        </p:nvSpPr>
        <p:spPr>
          <a:xfrm>
            <a:off x="970000" y="267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Фаза зависит от взаимного положения Солнца, Земли и Луны.</a:t>
            </a:r>
          </a:p>
        </p:txBody>
      </p:sp>
      <p:sp>
        <p:nvSpPr>
          <p:cNvPr id="34" name="bullet"/>
          <p:cNvSpPr/>
          <p:nvPr/>
        </p:nvSpPr>
        <p:spPr>
          <a:xfrm>
            <a:off x="760000" y="336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5" name="bullet text"/>
          <p:cNvSpPr txBox="1"/>
          <p:nvPr/>
        </p:nvSpPr>
        <p:spPr>
          <a:xfrm>
            <a:off x="970000" y="326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Полный цикл фаз длится примерно 29,5 суток.</a:t>
            </a:r>
          </a:p>
        </p:txBody>
      </p:sp>
      <p:sp>
        <p:nvSpPr>
          <p:cNvPr id="36" name="bullet"/>
          <p:cNvSpPr/>
          <p:nvPr/>
        </p:nvSpPr>
        <p:spPr>
          <a:xfrm>
            <a:off x="760000" y="395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7" name="bullet text"/>
          <p:cNvSpPr txBox="1"/>
          <p:nvPr/>
        </p:nvSpPr>
        <p:spPr>
          <a:xfrm>
            <a:off x="970000" y="385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Затмения происходят, когда тела выстраиваются почти в одну линию.</a:t>
            </a:r>
          </a:p>
        </p:txBody>
      </p:sp>
      <p:sp>
        <p:nvSpPr>
          <p:cNvPr id="140" name="phase"/>
          <p:cNvSpPr/>
          <p:nvPr/>
        </p:nvSpPr>
        <p:spPr>
          <a:xfrm>
            <a:off x="1360000" y="4950000"/>
            <a:ext cx="770000" cy="770000"/>
          </a:xfrm>
          <a:solidFill>
            <a:srgbClr val="1F2937"/>
          </a:solidFill>
          <a:prstGeom prst="ellipse">
            <a:avLst/>
          </a:prstGeom>
          <a:ln>
            <a:solidFill>
              <a:srgbClr val="E5E7EB"/>
            </a:solidFill>
          </a:ln>
        </p:spPr>
      </p:sp>
      <p:sp>
        <p:nvSpPr>
          <p:cNvPr id="150" name="phase label"/>
          <p:cNvSpPr txBox="1"/>
          <p:nvPr/>
        </p:nvSpPr>
        <p:spPr>
          <a:xfrm>
            <a:off x="1170000" y="5820000"/>
            <a:ext cx="116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1500">
                <a:solidFill>
                  <a:srgbClr val="D7E3F7"/>
                </a:solidFill>
              </a:rPr>
              <a:t>новолуние</a:t>
            </a:r>
          </a:p>
        </p:txBody>
      </p:sp>
      <p:sp>
        <p:nvSpPr>
          <p:cNvPr id="141" name="phase"/>
          <p:cNvSpPr/>
          <p:nvPr/>
        </p:nvSpPr>
        <p:spPr>
          <a:xfrm>
            <a:off x="3910000" y="4950000"/>
            <a:ext cx="770000" cy="770000"/>
          </a:xfrm>
          <a:solidFill>
            <a:srgbClr val="B8C0CC"/>
          </a:solidFill>
          <a:prstGeom prst="ellipse">
            <a:avLst/>
          </a:prstGeom>
          <a:ln>
            <a:solidFill>
              <a:srgbClr val="E5E7EB"/>
            </a:solidFill>
          </a:ln>
        </p:spPr>
      </p:sp>
      <p:sp>
        <p:nvSpPr>
          <p:cNvPr id="151" name="phase label"/>
          <p:cNvSpPr txBox="1"/>
          <p:nvPr/>
        </p:nvSpPr>
        <p:spPr>
          <a:xfrm>
            <a:off x="3720000" y="5820000"/>
            <a:ext cx="116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1500">
                <a:solidFill>
                  <a:srgbClr val="D7E3F7"/>
                </a:solidFill>
              </a:rPr>
              <a:t>первая</a:t>
            </a:r>
          </a:p>
          <a:p>
            <a:pPr algn="ctr"/>
            <a:r>
              <a:rPr lang="ru-RU" sz="1500">
                <a:solidFill>
                  <a:srgbClr val="D7E3F7"/>
                </a:solidFill>
              </a:rPr>
              <a:t>четверть</a:t>
            </a:r>
          </a:p>
        </p:txBody>
      </p:sp>
      <p:sp>
        <p:nvSpPr>
          <p:cNvPr id="142" name="phase"/>
          <p:cNvSpPr/>
          <p:nvPr/>
        </p:nvSpPr>
        <p:spPr>
          <a:xfrm>
            <a:off x="6460000" y="4950000"/>
            <a:ext cx="770000" cy="770000"/>
          </a:xfrm>
          <a:solidFill>
            <a:srgbClr val="E5E7EB"/>
          </a:solidFill>
          <a:prstGeom prst="ellipse">
            <a:avLst/>
          </a:prstGeom>
          <a:ln>
            <a:solidFill>
              <a:srgbClr val="E5E7EB"/>
            </a:solidFill>
          </a:ln>
        </p:spPr>
      </p:sp>
      <p:sp>
        <p:nvSpPr>
          <p:cNvPr id="152" name="phase label"/>
          <p:cNvSpPr txBox="1"/>
          <p:nvPr/>
        </p:nvSpPr>
        <p:spPr>
          <a:xfrm>
            <a:off x="6270000" y="5820000"/>
            <a:ext cx="116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1500">
                <a:solidFill>
                  <a:srgbClr val="D7E3F7"/>
                </a:solidFill>
              </a:rPr>
              <a:t>полнолуние</a:t>
            </a:r>
          </a:p>
        </p:txBody>
      </p:sp>
      <p:sp>
        <p:nvSpPr>
          <p:cNvPr id="143" name="phase"/>
          <p:cNvSpPr/>
          <p:nvPr/>
        </p:nvSpPr>
        <p:spPr>
          <a:xfrm>
            <a:off x="9010000" y="4950000"/>
            <a:ext cx="770000" cy="770000"/>
          </a:xfrm>
          <a:solidFill>
            <a:srgbClr val="8791A3"/>
          </a:solidFill>
          <a:prstGeom prst="ellipse">
            <a:avLst/>
          </a:prstGeom>
          <a:ln>
            <a:solidFill>
              <a:srgbClr val="E5E7EB"/>
            </a:solidFill>
          </a:ln>
        </p:spPr>
      </p:sp>
      <p:sp>
        <p:nvSpPr>
          <p:cNvPr id="153" name="phase label"/>
          <p:cNvSpPr txBox="1"/>
          <p:nvPr/>
        </p:nvSpPr>
        <p:spPr>
          <a:xfrm>
            <a:off x="8820000" y="5820000"/>
            <a:ext cx="116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1500">
                <a:solidFill>
                  <a:srgbClr val="D7E3F7"/>
                </a:solidFill>
              </a:rPr>
              <a:t>последняя</a:t>
            </a:r>
          </a:p>
          <a:p>
            <a:pPr algn="ctr"/>
            <a:r>
              <a:rPr lang="ru-RU" sz="1500">
                <a:solidFill>
                  <a:srgbClr val="D7E3F7"/>
                </a:solidFill>
              </a:rPr>
              <a:t>четверть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3333000" cy="7500000"/>
          </a:xfrm>
          <a:solidFill>
            <a:srgbClr val="0B1020"/>
          </a:solidFill>
          <a:prstGeom prst="rect">
            <a:avLst/>
          </a:prstGeom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260000" cy="7500000"/>
          </a:xfrm>
          <a:solidFill>
            <a:srgbClr val="F7C948"/>
          </a:solidFill>
          <a:prstGeom prst="rect">
            <a:avLst/>
          </a:prstGeom>
          <a:ln>
            <a:noFill/>
          </a:ln>
        </p:spPr>
      </p:sp>
      <p:sp>
        <p:nvSpPr>
          <p:cNvPr id="4" name="top glow"/>
          <p:cNvSpPr/>
          <p:nvPr/>
        </p:nvSpPr>
        <p:spPr>
          <a:xfrm>
            <a:off x="6400000" y="-1000000"/>
            <a:ext cx="4500000" cy="4500000"/>
          </a:xfrm>
          <a:solidFill>
            <a:srgbClr val="1E3A8A">
              <a:alpha val="3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20" name="title"/>
          <p:cNvSpPr txBox="1"/>
          <p:nvPr/>
        </p:nvSpPr>
        <p:spPr>
          <a:xfrm>
            <a:off x="670000" y="460000"/>
            <a:ext cx="89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3900" b="1">
                <a:solidFill>
                  <a:srgbClr val="FFFFFF"/>
                </a:solidFill>
              </a:rPr>
              <a:t>Влияние на Землю</a:t>
            </a:r>
          </a:p>
        </p:txBody>
      </p:sp>
      <p:sp>
        <p:nvSpPr>
          <p:cNvPr id="21" name="subtitle"/>
          <p:cNvSpPr txBox="1"/>
          <p:nvPr/>
        </p:nvSpPr>
        <p:spPr>
          <a:xfrm>
            <a:off x="690000" y="1220000"/>
            <a:ext cx="84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000">
                <a:solidFill>
                  <a:srgbClr val="BFD7FF"/>
                </a:solidFill>
              </a:rPr>
              <a:t>Луна заметно меняет нашу планету</a:t>
            </a:r>
          </a:p>
        </p:txBody>
      </p:sp>
      <p:sp>
        <p:nvSpPr>
          <p:cNvPr id="30" name="bullet"/>
          <p:cNvSpPr/>
          <p:nvPr/>
        </p:nvSpPr>
        <p:spPr>
          <a:xfrm>
            <a:off x="760000" y="218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1" name="bullet text"/>
          <p:cNvSpPr txBox="1"/>
          <p:nvPr/>
        </p:nvSpPr>
        <p:spPr>
          <a:xfrm>
            <a:off x="970000" y="208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Гравитация Луны вызывает океанские приливы и отливы.</a:t>
            </a:r>
          </a:p>
        </p:txBody>
      </p:sp>
      <p:sp>
        <p:nvSpPr>
          <p:cNvPr id="32" name="bullet"/>
          <p:cNvSpPr/>
          <p:nvPr/>
        </p:nvSpPr>
        <p:spPr>
          <a:xfrm>
            <a:off x="760000" y="277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3" name="bullet text"/>
          <p:cNvSpPr txBox="1"/>
          <p:nvPr/>
        </p:nvSpPr>
        <p:spPr>
          <a:xfrm>
            <a:off x="970000" y="267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Она помогает стабилизировать наклон земной оси.</a:t>
            </a:r>
          </a:p>
        </p:txBody>
      </p:sp>
      <p:sp>
        <p:nvSpPr>
          <p:cNvPr id="34" name="bullet"/>
          <p:cNvSpPr/>
          <p:nvPr/>
        </p:nvSpPr>
        <p:spPr>
          <a:xfrm>
            <a:off x="760000" y="336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5" name="bullet text"/>
          <p:cNvSpPr txBox="1"/>
          <p:nvPr/>
        </p:nvSpPr>
        <p:spPr>
          <a:xfrm>
            <a:off x="970000" y="326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Лунный цикл лежит в основе многих календарей.</a:t>
            </a:r>
          </a:p>
        </p:txBody>
      </p:sp>
      <p:sp>
        <p:nvSpPr>
          <p:cNvPr id="36" name="bullet"/>
          <p:cNvSpPr/>
          <p:nvPr/>
        </p:nvSpPr>
        <p:spPr>
          <a:xfrm>
            <a:off x="760000" y="395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7" name="bullet text"/>
          <p:cNvSpPr txBox="1"/>
          <p:nvPr/>
        </p:nvSpPr>
        <p:spPr>
          <a:xfrm>
            <a:off x="970000" y="385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Ночная освещённость Луны важна для природы и культуры.</a:t>
            </a:r>
          </a:p>
        </p:txBody>
      </p:sp>
      <p:sp>
        <p:nvSpPr>
          <p:cNvPr id="80" name="Moon"/>
          <p:cNvSpPr/>
          <p:nvPr/>
        </p:nvSpPr>
        <p:spPr>
          <a:xfrm>
            <a:off x="9360000" y="1850000"/>
            <a:ext cx="2900000" cy="2900000"/>
          </a:xfrm>
          <a:solidFill>
            <a:srgbClr val="D9DEE8"/>
          </a:solidFill>
          <a:prstGeom prst="ellipse">
            <a:avLst/>
          </a:prstGeom>
          <a:ln>
            <a:solidFill>
              <a:srgbClr val="F8FAFC"/>
            </a:solidFill>
          </a:ln>
        </p:spPr>
      </p:sp>
      <p:sp>
        <p:nvSpPr>
          <p:cNvPr id="81" name="Moon shadow"/>
          <p:cNvSpPr/>
          <p:nvPr/>
        </p:nvSpPr>
        <p:spPr>
          <a:xfrm>
            <a:off x="11042000" y="1966000"/>
            <a:ext cx="1073000" cy="2668000"/>
          </a:xfrm>
          <a:solidFill>
            <a:srgbClr val="AAB2C2">
              <a:alpha val="2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2" name="Crater"/>
          <p:cNvSpPr/>
          <p:nvPr/>
        </p:nvSpPr>
        <p:spPr>
          <a:xfrm>
            <a:off x="9940000" y="2401000"/>
            <a:ext cx="377000" cy="377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3" name="Crater"/>
          <p:cNvSpPr/>
          <p:nvPr/>
        </p:nvSpPr>
        <p:spPr>
          <a:xfrm>
            <a:off x="10926000" y="2314000"/>
            <a:ext cx="232000" cy="232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4" name="Crater"/>
          <p:cNvSpPr/>
          <p:nvPr/>
        </p:nvSpPr>
        <p:spPr>
          <a:xfrm>
            <a:off x="11274000" y="3068000"/>
            <a:ext cx="435000" cy="435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5" name="Crater"/>
          <p:cNvSpPr/>
          <p:nvPr/>
        </p:nvSpPr>
        <p:spPr>
          <a:xfrm>
            <a:off x="10259000" y="3445000"/>
            <a:ext cx="290000" cy="290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6" name="Crater"/>
          <p:cNvSpPr/>
          <p:nvPr/>
        </p:nvSpPr>
        <p:spPr>
          <a:xfrm>
            <a:off x="10810000" y="3879999"/>
            <a:ext cx="348000" cy="348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7" name="Crater"/>
          <p:cNvSpPr/>
          <p:nvPr/>
        </p:nvSpPr>
        <p:spPr>
          <a:xfrm>
            <a:off x="9882000" y="4054000"/>
            <a:ext cx="174000" cy="174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3333000" cy="7500000"/>
          </a:xfrm>
          <a:solidFill>
            <a:srgbClr val="0B1020"/>
          </a:solidFill>
          <a:prstGeom prst="rect">
            <a:avLst/>
          </a:prstGeom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260000" cy="7500000"/>
          </a:xfrm>
          <a:solidFill>
            <a:srgbClr val="F7C948"/>
          </a:solidFill>
          <a:prstGeom prst="rect">
            <a:avLst/>
          </a:prstGeom>
          <a:ln>
            <a:noFill/>
          </a:ln>
        </p:spPr>
      </p:sp>
      <p:sp>
        <p:nvSpPr>
          <p:cNvPr id="4" name="top glow"/>
          <p:cNvSpPr/>
          <p:nvPr/>
        </p:nvSpPr>
        <p:spPr>
          <a:xfrm>
            <a:off x="6400000" y="-1000000"/>
            <a:ext cx="4500000" cy="4500000"/>
          </a:xfrm>
          <a:solidFill>
            <a:srgbClr val="1E3A8A">
              <a:alpha val="3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20" name="title"/>
          <p:cNvSpPr txBox="1"/>
          <p:nvPr/>
        </p:nvSpPr>
        <p:spPr>
          <a:xfrm>
            <a:off x="670000" y="460000"/>
            <a:ext cx="89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3900" b="1">
                <a:solidFill>
                  <a:srgbClr val="FFFFFF"/>
                </a:solidFill>
              </a:rPr>
              <a:t>Исследование Луны</a:t>
            </a:r>
          </a:p>
        </p:txBody>
      </p:sp>
      <p:sp>
        <p:nvSpPr>
          <p:cNvPr id="21" name="subtitle"/>
          <p:cNvSpPr txBox="1"/>
          <p:nvPr/>
        </p:nvSpPr>
        <p:spPr>
          <a:xfrm>
            <a:off x="690000" y="1220000"/>
            <a:ext cx="84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000">
                <a:solidFill>
                  <a:srgbClr val="BFD7FF"/>
                </a:solidFill>
              </a:rPr>
              <a:t>От первых аппаратов до новых миссий</a:t>
            </a:r>
          </a:p>
        </p:txBody>
      </p:sp>
      <p:sp>
        <p:nvSpPr>
          <p:cNvPr id="30" name="bullet"/>
          <p:cNvSpPr/>
          <p:nvPr/>
        </p:nvSpPr>
        <p:spPr>
          <a:xfrm>
            <a:off x="760000" y="218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1" name="bullet text"/>
          <p:cNvSpPr txBox="1"/>
          <p:nvPr/>
        </p:nvSpPr>
        <p:spPr>
          <a:xfrm>
            <a:off x="970000" y="208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Советские станции «Луна» первыми достигли поверхности и доставили образцы.</a:t>
            </a:r>
          </a:p>
        </p:txBody>
      </p:sp>
      <p:sp>
        <p:nvSpPr>
          <p:cNvPr id="32" name="bullet"/>
          <p:cNvSpPr/>
          <p:nvPr/>
        </p:nvSpPr>
        <p:spPr>
          <a:xfrm>
            <a:off x="760000" y="277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3" name="bullet text"/>
          <p:cNvSpPr txBox="1"/>
          <p:nvPr/>
        </p:nvSpPr>
        <p:spPr>
          <a:xfrm>
            <a:off x="970000" y="267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В 1969 году Apollo 11 впервые высадил людей на Луну.</a:t>
            </a:r>
          </a:p>
        </p:txBody>
      </p:sp>
      <p:sp>
        <p:nvSpPr>
          <p:cNvPr id="34" name="bullet"/>
          <p:cNvSpPr/>
          <p:nvPr/>
        </p:nvSpPr>
        <p:spPr>
          <a:xfrm>
            <a:off x="760000" y="336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5" name="bullet text"/>
          <p:cNvSpPr txBox="1"/>
          <p:nvPr/>
        </p:nvSpPr>
        <p:spPr>
          <a:xfrm>
            <a:off x="970000" y="326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Орбитальные аппараты составили подробные карты поверхности.</a:t>
            </a:r>
          </a:p>
        </p:txBody>
      </p:sp>
      <p:sp>
        <p:nvSpPr>
          <p:cNvPr id="36" name="bullet"/>
          <p:cNvSpPr/>
          <p:nvPr/>
        </p:nvSpPr>
        <p:spPr>
          <a:xfrm>
            <a:off x="760000" y="395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7" name="bullet text"/>
          <p:cNvSpPr txBox="1"/>
          <p:nvPr/>
        </p:nvSpPr>
        <p:spPr>
          <a:xfrm>
            <a:off x="970000" y="385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Современные программы изучают ресурсы и возможность лунных баз.</a:t>
            </a:r>
          </a:p>
        </p:txBody>
      </p:sp>
      <p:sp>
        <p:nvSpPr>
          <p:cNvPr id="80" name="Moon"/>
          <p:cNvSpPr/>
          <p:nvPr/>
        </p:nvSpPr>
        <p:spPr>
          <a:xfrm>
            <a:off x="9360000" y="1850000"/>
            <a:ext cx="2900000" cy="2900000"/>
          </a:xfrm>
          <a:solidFill>
            <a:srgbClr val="D9DEE8"/>
          </a:solidFill>
          <a:prstGeom prst="ellipse">
            <a:avLst/>
          </a:prstGeom>
          <a:ln>
            <a:solidFill>
              <a:srgbClr val="F8FAFC"/>
            </a:solidFill>
          </a:ln>
        </p:spPr>
      </p:sp>
      <p:sp>
        <p:nvSpPr>
          <p:cNvPr id="81" name="Moon shadow"/>
          <p:cNvSpPr/>
          <p:nvPr/>
        </p:nvSpPr>
        <p:spPr>
          <a:xfrm>
            <a:off x="11042000" y="1966000"/>
            <a:ext cx="1073000" cy="2668000"/>
          </a:xfrm>
          <a:solidFill>
            <a:srgbClr val="AAB2C2">
              <a:alpha val="2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2" name="Crater"/>
          <p:cNvSpPr/>
          <p:nvPr/>
        </p:nvSpPr>
        <p:spPr>
          <a:xfrm>
            <a:off x="9940000" y="2401000"/>
            <a:ext cx="377000" cy="377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3" name="Crater"/>
          <p:cNvSpPr/>
          <p:nvPr/>
        </p:nvSpPr>
        <p:spPr>
          <a:xfrm>
            <a:off x="10926000" y="2314000"/>
            <a:ext cx="232000" cy="232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4" name="Crater"/>
          <p:cNvSpPr/>
          <p:nvPr/>
        </p:nvSpPr>
        <p:spPr>
          <a:xfrm>
            <a:off x="11274000" y="3068000"/>
            <a:ext cx="435000" cy="435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5" name="Crater"/>
          <p:cNvSpPr/>
          <p:nvPr/>
        </p:nvSpPr>
        <p:spPr>
          <a:xfrm>
            <a:off x="10259000" y="3445000"/>
            <a:ext cx="290000" cy="290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6" name="Crater"/>
          <p:cNvSpPr/>
          <p:nvPr/>
        </p:nvSpPr>
        <p:spPr>
          <a:xfrm>
            <a:off x="10810000" y="3879999"/>
            <a:ext cx="348000" cy="348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7" name="Crater"/>
          <p:cNvSpPr/>
          <p:nvPr/>
        </p:nvSpPr>
        <p:spPr>
          <a:xfrm>
            <a:off x="9882000" y="4054000"/>
            <a:ext cx="174000" cy="174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3333000" cy="7500000"/>
          </a:xfrm>
          <a:solidFill>
            <a:srgbClr val="0B1020"/>
          </a:solidFill>
          <a:prstGeom prst="rect">
            <a:avLst/>
          </a:prstGeom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260000" cy="7500000"/>
          </a:xfrm>
          <a:solidFill>
            <a:srgbClr val="F7C948"/>
          </a:solidFill>
          <a:prstGeom prst="rect">
            <a:avLst/>
          </a:prstGeom>
          <a:ln>
            <a:noFill/>
          </a:ln>
        </p:spPr>
      </p:sp>
      <p:sp>
        <p:nvSpPr>
          <p:cNvPr id="4" name="top glow"/>
          <p:cNvSpPr/>
          <p:nvPr/>
        </p:nvSpPr>
        <p:spPr>
          <a:xfrm>
            <a:off x="6400000" y="-1000000"/>
            <a:ext cx="4500000" cy="4500000"/>
          </a:xfrm>
          <a:solidFill>
            <a:srgbClr val="1E3A8A">
              <a:alpha val="3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20" name="title"/>
          <p:cNvSpPr txBox="1"/>
          <p:nvPr/>
        </p:nvSpPr>
        <p:spPr>
          <a:xfrm>
            <a:off x="670000" y="460000"/>
            <a:ext cx="89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3900" b="1">
                <a:solidFill>
                  <a:srgbClr val="FFFFFF"/>
                </a:solidFill>
              </a:rPr>
              <a:t>Почему Луна важна</a:t>
            </a:r>
          </a:p>
        </p:txBody>
      </p:sp>
      <p:sp>
        <p:nvSpPr>
          <p:cNvPr id="21" name="subtitle"/>
          <p:cNvSpPr txBox="1"/>
          <p:nvPr/>
        </p:nvSpPr>
        <p:spPr>
          <a:xfrm>
            <a:off x="690000" y="1220000"/>
            <a:ext cx="84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000">
                <a:solidFill>
                  <a:srgbClr val="BFD7FF"/>
                </a:solidFill>
              </a:rPr>
              <a:t>Наука, технологии и будущее</a:t>
            </a:r>
          </a:p>
        </p:txBody>
      </p:sp>
      <p:sp>
        <p:nvSpPr>
          <p:cNvPr id="30" name="bullet"/>
          <p:cNvSpPr/>
          <p:nvPr/>
        </p:nvSpPr>
        <p:spPr>
          <a:xfrm>
            <a:off x="760000" y="218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1" name="bullet text"/>
          <p:cNvSpPr txBox="1"/>
          <p:nvPr/>
        </p:nvSpPr>
        <p:spPr>
          <a:xfrm>
            <a:off x="970000" y="208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Лунные породы хранят историю ранней Солнечной системы.</a:t>
            </a:r>
          </a:p>
        </p:txBody>
      </p:sp>
      <p:sp>
        <p:nvSpPr>
          <p:cNvPr id="32" name="bullet"/>
          <p:cNvSpPr/>
          <p:nvPr/>
        </p:nvSpPr>
        <p:spPr>
          <a:xfrm>
            <a:off x="760000" y="277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3" name="bullet text"/>
          <p:cNvSpPr txBox="1"/>
          <p:nvPr/>
        </p:nvSpPr>
        <p:spPr>
          <a:xfrm>
            <a:off x="970000" y="267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Полярный лёд может стать ресурсом для будущих экспедиций.</a:t>
            </a:r>
          </a:p>
        </p:txBody>
      </p:sp>
      <p:sp>
        <p:nvSpPr>
          <p:cNvPr id="34" name="bullet"/>
          <p:cNvSpPr/>
          <p:nvPr/>
        </p:nvSpPr>
        <p:spPr>
          <a:xfrm>
            <a:off x="760000" y="336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5" name="bullet text"/>
          <p:cNvSpPr txBox="1"/>
          <p:nvPr/>
        </p:nvSpPr>
        <p:spPr>
          <a:xfrm>
            <a:off x="970000" y="326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Луна удобна для испытания технологий дальнего космоса.</a:t>
            </a:r>
          </a:p>
        </p:txBody>
      </p:sp>
      <p:sp>
        <p:nvSpPr>
          <p:cNvPr id="36" name="bullet"/>
          <p:cNvSpPr/>
          <p:nvPr/>
        </p:nvSpPr>
        <p:spPr>
          <a:xfrm>
            <a:off x="760000" y="3950000"/>
            <a:ext cx="95000" cy="95000"/>
          </a:xfrm>
          <a:solidFill>
            <a:srgbClr val="F7C948"/>
          </a:solidFill>
          <a:prstGeom prst="ellipse">
            <a:avLst/>
          </a:prstGeom>
          <a:ln>
            <a:noFill/>
          </a:ln>
        </p:spPr>
      </p:sp>
      <p:sp>
        <p:nvSpPr>
          <p:cNvPr id="37" name="bullet text"/>
          <p:cNvSpPr txBox="1"/>
          <p:nvPr/>
        </p:nvSpPr>
        <p:spPr>
          <a:xfrm>
            <a:off x="970000" y="3850000"/>
            <a:ext cx="7290000" cy="41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100">
                <a:solidFill>
                  <a:srgbClr val="E9EEF8"/>
                </a:solidFill>
              </a:rPr>
              <a:t>Её изучение помогает лучше понять Землю.</a:t>
            </a:r>
          </a:p>
        </p:txBody>
      </p:sp>
      <p:sp>
        <p:nvSpPr>
          <p:cNvPr id="80" name="Moon"/>
          <p:cNvSpPr/>
          <p:nvPr/>
        </p:nvSpPr>
        <p:spPr>
          <a:xfrm>
            <a:off x="9360000" y="1850000"/>
            <a:ext cx="2900000" cy="2900000"/>
          </a:xfrm>
          <a:solidFill>
            <a:srgbClr val="D9DEE8"/>
          </a:solidFill>
          <a:prstGeom prst="ellipse">
            <a:avLst/>
          </a:prstGeom>
          <a:ln>
            <a:solidFill>
              <a:srgbClr val="F8FAFC"/>
            </a:solidFill>
          </a:ln>
        </p:spPr>
      </p:sp>
      <p:sp>
        <p:nvSpPr>
          <p:cNvPr id="81" name="Moon shadow"/>
          <p:cNvSpPr/>
          <p:nvPr/>
        </p:nvSpPr>
        <p:spPr>
          <a:xfrm>
            <a:off x="11042000" y="1966000"/>
            <a:ext cx="1073000" cy="2668000"/>
          </a:xfrm>
          <a:solidFill>
            <a:srgbClr val="AAB2C2">
              <a:alpha val="2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2" name="Crater"/>
          <p:cNvSpPr/>
          <p:nvPr/>
        </p:nvSpPr>
        <p:spPr>
          <a:xfrm>
            <a:off x="9940000" y="2401000"/>
            <a:ext cx="377000" cy="377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3" name="Crater"/>
          <p:cNvSpPr/>
          <p:nvPr/>
        </p:nvSpPr>
        <p:spPr>
          <a:xfrm>
            <a:off x="10926000" y="2314000"/>
            <a:ext cx="232000" cy="232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4" name="Crater"/>
          <p:cNvSpPr/>
          <p:nvPr/>
        </p:nvSpPr>
        <p:spPr>
          <a:xfrm>
            <a:off x="11274000" y="3068000"/>
            <a:ext cx="435000" cy="435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5" name="Crater"/>
          <p:cNvSpPr/>
          <p:nvPr/>
        </p:nvSpPr>
        <p:spPr>
          <a:xfrm>
            <a:off x="10259000" y="3445000"/>
            <a:ext cx="290000" cy="290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6" name="Crater"/>
          <p:cNvSpPr/>
          <p:nvPr/>
        </p:nvSpPr>
        <p:spPr>
          <a:xfrm>
            <a:off x="10810000" y="3879999"/>
            <a:ext cx="348000" cy="348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  <p:sp>
        <p:nvSpPr>
          <p:cNvPr id="87" name="Crater"/>
          <p:cNvSpPr/>
          <p:nvPr/>
        </p:nvSpPr>
        <p:spPr>
          <a:xfrm>
            <a:off x="9882000" y="4054000"/>
            <a:ext cx="174000" cy="174000"/>
          </a:xfrm>
          <a:solidFill>
            <a:srgbClr val="98A2B3">
              <a:alpha val="55000"/>
            </a:srgbClr>
          </a:solidFill>
          <a:prstGeom prst="ellipse">
            <a:avLst/>
          </a:prstGeom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Moon Theme">
  <a:themeElements>
    <a:clrScheme name="Moon">
      <a:dk1>
        <a:srgbClr val="0B1020"/>
      </a:dk1>
      <a:lt1>
        <a:srgbClr val="FFFFFF"/>
      </a:lt1>
      <a:dk2>
        <a:srgbClr val="1F2937"/>
      </a:dk2>
      <a:lt2>
        <a:srgbClr val="E5E7EB"/>
      </a:lt2>
      <a:accent1>
        <a:srgbClr val="F7C948"/>
      </a:accent1>
      <a:accent2>
        <a:srgbClr val="60A5FA"/>
      </a:accent2>
      <a:accent3>
        <a:srgbClr val="94A3B8"/>
      </a:accent3>
      <a:accent4>
        <a:srgbClr val="A78BFA"/>
      </a:accent4>
      <a:accent5>
        <a:srgbClr val="22D3EE"/>
      </a:accent5>
      <a:accent6>
        <a:srgbClr val="F472B6"/>
      </a:accent6>
      <a:hlink>
        <a:srgbClr val="60A5FA"/>
      </a:hlink>
      <a:folHlink>
        <a:srgbClr val="A78BFA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ZIP OOXML</Application>
  <PresentationFormat>On-screen Show (16:9)</PresentationFormat>
  <Slides>8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Луна</dc:title>
  <dc:subject>Презентация о Луне</dc:subject>
  <dc:creator>Cursor Cloud Agent</dc:creator>
  <cp:keywords>Луна, космос, презентация</cp:keywords>
  <dcterms:created xsi:type="dcterms:W3CDTF">2026-06-29T12:36:56.508363+00:00</dcterms:created>
  <dcterms:modified xsi:type="dcterms:W3CDTF">2026-06-29T12:36:56.508363+00:00</dcterms:modified>
</cp:coreProperties>
</file>